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h2026.vuce.in/en/ps/SIH260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91D22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880789"/>
          </a:xfrm>
          <a:prstGeom prst="rect">
            <a:avLst/>
          </a:prstGeom>
          <a:noFill/>
        </p:spPr>
        <p:txBody>
          <a:bodyPr wrap="square" lIns="18288" tIns="9144" rIns="18288" bIns="9144" rtlCol="0">
            <a:spAutoFit/>
          </a:bodyPr>
          <a:lstStyle/>
          <a:p>
            <a:pPr>
              <a:spcAft>
                <a:spcPts val="900"/>
              </a:spcAft>
            </a:pPr>
            <a:r>
              <a:rPr sz="1850" b="1" dirty="0">
                <a:solidFill>
                  <a:srgbClr val="191D22"/>
                </a:solidFill>
                <a:latin typeface="Arial"/>
              </a:rPr>
              <a:t>Problem Statement ID – </a:t>
            </a:r>
            <a:r>
              <a:rPr sz="1850" dirty="0">
                <a:solidFill>
                  <a:srgbClr val="191D22"/>
                </a:solidFill>
                <a:latin typeface="Arial"/>
              </a:rPr>
              <a:t>SIH26056</a:t>
            </a:r>
            <a:endParaRPr lang="en-US" dirty="0"/>
          </a:p>
          <a:p>
            <a:pPr>
              <a:spcAft>
                <a:spcPts val="900"/>
              </a:spcAft>
            </a:pPr>
            <a:r>
              <a:rPr sz="1750" b="1" dirty="0">
                <a:solidFill>
                  <a:srgbClr val="191D22"/>
                </a:solidFill>
                <a:latin typeface="Arial"/>
              </a:rPr>
              <a:t>Problem Statement Title – </a:t>
            </a:r>
            <a:r>
              <a:rPr sz="1750" dirty="0">
                <a:solidFill>
                  <a:srgbClr val="191D22"/>
                </a:solidFill>
                <a:latin typeface="Arial"/>
              </a:rPr>
              <a:t>Development of a Real-time Airfare Price Index for India through Automated Web Scraping of Airline and Online Travel Aggregator Portals for Augmentation of CPI.</a:t>
            </a:r>
          </a:p>
          <a:p>
            <a:pPr>
              <a:spcAft>
                <a:spcPts val="500"/>
              </a:spcAft>
            </a:pPr>
            <a:r>
              <a:rPr sz="1750" b="1" dirty="0">
                <a:solidFill>
                  <a:srgbClr val="191D22"/>
                </a:solidFill>
                <a:latin typeface="Arial"/>
              </a:rPr>
              <a:t>Theme – </a:t>
            </a:r>
            <a:r>
              <a:rPr sz="1750" dirty="0">
                <a:solidFill>
                  <a:srgbClr val="191D22"/>
                </a:solidFill>
                <a:latin typeface="Arial"/>
              </a:rPr>
              <a:t>Travel &amp; Tourism</a:t>
            </a:r>
          </a:p>
          <a:p>
            <a:pPr>
              <a:spcAft>
                <a:spcPts val="500"/>
              </a:spcAft>
            </a:pPr>
            <a:r>
              <a:rPr sz="1750" b="1" dirty="0">
                <a:solidFill>
                  <a:srgbClr val="191D22"/>
                </a:solidFill>
                <a:latin typeface="Arial"/>
              </a:rPr>
              <a:t>PS Category – </a:t>
            </a:r>
            <a:r>
              <a:rPr sz="1750" dirty="0">
                <a:solidFill>
                  <a:srgbClr val="191D22"/>
                </a:solidFill>
                <a:latin typeface="Arial"/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750" b="1" dirty="0">
                <a:solidFill>
                  <a:srgbClr val="191D22"/>
                </a:solidFill>
                <a:latin typeface="Arial"/>
              </a:rPr>
              <a:t>Team ID – [Portal Team ID]</a:t>
            </a:r>
          </a:p>
          <a:p>
            <a:pPr>
              <a:spcAft>
                <a:spcPts val="500"/>
              </a:spcAft>
            </a:pPr>
            <a:r>
              <a:rPr sz="1750" b="1" dirty="0">
                <a:solidFill>
                  <a:srgbClr val="191D22"/>
                </a:solidFill>
                <a:latin typeface="Arial"/>
              </a:rPr>
              <a:t>Team Name – </a:t>
            </a:r>
            <a:r>
              <a:rPr sz="1750" dirty="0">
                <a:solidFill>
                  <a:srgbClr val="191D22"/>
                </a:solidFill>
                <a:latin typeface="Arial"/>
              </a:rPr>
              <a:t>CHAKRAVYUH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6107053B-0E45-9D64-9375-144AEFD958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 eaLnBrk="1" hangingPunct="1"/>
            <a:r>
              <a:rPr sz="2600" b="1" dirty="0">
                <a:solidFill>
                  <a:srgbClr val="1F4B82"/>
                </a:solidFill>
                <a:latin typeface="Times New Roman"/>
              </a:rPr>
              <a:t>VAYU-SUCHAK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594360" y="1572768"/>
            <a:ext cx="2487168" cy="283464"/>
          </a:xfrm>
          <a:prstGeom prst="roundRect">
            <a:avLst/>
          </a:prstGeom>
          <a:solidFill>
            <a:srgbClr val="0070B8"/>
          </a:solidFill>
          <a:ln w="381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487680" y="1645946"/>
            <a:ext cx="268833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rial"/>
              </a:rPr>
              <a:t>WHAT </a:t>
            </a:r>
            <a:r>
              <a:rPr lang="en-US" sz="1100" b="1" i="0" dirty="0" err="1">
                <a:solidFill>
                  <a:srgbClr val="FFFFFF"/>
                </a:solidFill>
                <a:latin typeface="Arial"/>
              </a:rPr>
              <a:t>MoSPI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IS </a:t>
            </a:r>
            <a:r>
              <a:rPr lang="en-US" sz="1100" b="1" i="0" dirty="0">
                <a:solidFill>
                  <a:srgbClr val="FFFFFF"/>
                </a:solidFill>
                <a:latin typeface="Arial"/>
              </a:rPr>
              <a:t>A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SKING FOR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21792" y="1947672"/>
            <a:ext cx="662940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 dirty="0">
                <a:solidFill>
                  <a:srgbClr val="1F4B82"/>
                </a:solidFill>
                <a:latin typeface="Arial"/>
              </a:rPr>
              <a:t>Turn India's volatile online airfare</a:t>
            </a:r>
            <a:r>
              <a:rPr lang="en-US" sz="1900" b="1" i="0" dirty="0">
                <a:solidFill>
                  <a:srgbClr val="1F4B82"/>
                </a:solidFill>
                <a:latin typeface="Arial"/>
              </a:rPr>
              <a:t> collection</a:t>
            </a:r>
            <a:r>
              <a:rPr sz="1900" b="1" i="0" dirty="0">
                <a:solidFill>
                  <a:srgbClr val="1F4B82"/>
                </a:solidFill>
                <a:latin typeface="Arial"/>
              </a:rPr>
              <a:t> into</a:t>
            </a:r>
            <a:endParaRPr lang="en-US" sz="1900" b="1" i="0" dirty="0">
              <a:solidFill>
                <a:srgbClr val="1F4B82"/>
              </a:solidFill>
              <a:latin typeface="Arial"/>
            </a:endParaRPr>
          </a:p>
          <a:p>
            <a:pPr algn="l"/>
            <a:r>
              <a:rPr lang="en-US" sz="1900" b="1" i="0" dirty="0">
                <a:solidFill>
                  <a:srgbClr val="1F4B82"/>
                </a:solidFill>
                <a:latin typeface="Arial"/>
              </a:rPr>
              <a:t>A</a:t>
            </a:r>
            <a:r>
              <a:rPr lang="en-US" sz="1900" b="1" dirty="0">
                <a:solidFill>
                  <a:srgbClr val="1F4B82"/>
                </a:solidFill>
                <a:latin typeface="Arial"/>
              </a:rPr>
              <a:t> </a:t>
            </a:r>
            <a:r>
              <a:rPr sz="1900" b="1" i="0" dirty="0">
                <a:solidFill>
                  <a:srgbClr val="1F4B82"/>
                </a:solidFill>
                <a:latin typeface="Arial"/>
              </a:rPr>
              <a:t>high-frequency, CPI-ready price signal.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0080" y="2633472"/>
            <a:ext cx="65379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>
                <a:solidFill>
                  <a:srgbClr val="586068"/>
                </a:solidFill>
                <a:latin typeface="Arial"/>
              </a:rPr>
              <a:t>Automate collection → clean &amp; normalize quotes → detect anomalies → apply economically meaningful weighting → publish a reproducible index.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21792" y="3273552"/>
            <a:ext cx="2057400" cy="96012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621792" y="3273552"/>
            <a:ext cx="54864" cy="960120"/>
          </a:xfrm>
          <a:prstGeom prst="roundRect">
            <a:avLst/>
          </a:prstGeom>
          <a:solidFill>
            <a:srgbClr val="0070B8"/>
          </a:solidFill>
          <a:ln w="254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768096" y="3374136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4B82"/>
                </a:solidFill>
                <a:latin typeface="Arial"/>
              </a:rPr>
              <a:t>DYNAMIC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768096" y="3657600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586068"/>
                </a:solidFill>
                <a:latin typeface="Arial"/>
              </a:rPr>
              <a:t>Fares vary by route, lead-time, demand and timing.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2834640" y="3273552"/>
            <a:ext cx="2057400" cy="96012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2834640" y="3273552"/>
            <a:ext cx="54864" cy="960120"/>
          </a:xfrm>
          <a:prstGeom prst="roundRect">
            <a:avLst/>
          </a:prstGeom>
          <a:solidFill>
            <a:srgbClr val="0070B8"/>
          </a:solidFill>
          <a:ln w="254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2980944" y="3374136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4B82"/>
                </a:solidFill>
                <a:latin typeface="Arial"/>
              </a:rPr>
              <a:t>MULTI-SOURCE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980944" y="3657600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586068"/>
                </a:solidFill>
                <a:latin typeface="Arial"/>
              </a:rPr>
              <a:t>Airlines + OTAs are the real online market surface.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047488" y="3273552"/>
            <a:ext cx="2057400" cy="96012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Rounded Rectangle 15376"/>
          <p:cNvSpPr/>
          <p:nvPr/>
        </p:nvSpPr>
        <p:spPr>
          <a:xfrm>
            <a:off x="5047488" y="3273552"/>
            <a:ext cx="54864" cy="960120"/>
          </a:xfrm>
          <a:prstGeom prst="roundRect">
            <a:avLst/>
          </a:prstGeom>
          <a:solidFill>
            <a:srgbClr val="238750"/>
          </a:solidFill>
          <a:ln w="254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TextBox 15377"/>
          <p:cNvSpPr txBox="1"/>
          <p:nvPr/>
        </p:nvSpPr>
        <p:spPr>
          <a:xfrm>
            <a:off x="5193792" y="3374136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4B82"/>
                </a:solidFill>
                <a:latin typeface="Arial"/>
              </a:rPr>
              <a:t>HIGH-FREQUENCY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193792" y="3657600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586068"/>
                </a:solidFill>
                <a:latin typeface="Arial"/>
              </a:rPr>
              <a:t>Daily / weekly / monthly index views are required.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21792" y="4480560"/>
            <a:ext cx="3108960" cy="283464"/>
          </a:xfrm>
          <a:prstGeom prst="roundRect">
            <a:avLst/>
          </a:prstGeom>
          <a:solidFill>
            <a:srgbClr val="1F4B82"/>
          </a:solidFill>
          <a:ln w="381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621792" y="4480560"/>
            <a:ext cx="310895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OUR DIFFERENTIATOR — SMART AUTOMATION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621792" y="4892040"/>
            <a:ext cx="2761488" cy="621792"/>
          </a:xfrm>
          <a:prstGeom prst="roundRect">
            <a:avLst/>
          </a:prstGeom>
          <a:solidFill>
            <a:srgbClr val="F8FBFE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713232" y="5010912"/>
            <a:ext cx="420624" cy="356616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4" name="TextBox 15383"/>
          <p:cNvSpPr txBox="1"/>
          <p:nvPr/>
        </p:nvSpPr>
        <p:spPr>
          <a:xfrm>
            <a:off x="713232" y="501091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SCRAPE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1225296" y="497433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SCRAPER-PRIMARY ACQUISITION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1225296" y="515721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586068"/>
                </a:solidFill>
                <a:latin typeface="Arial"/>
              </a:rPr>
              <a:t>Live scraping + cached snapshot fallback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675887" y="4892040"/>
            <a:ext cx="2761488" cy="621792"/>
          </a:xfrm>
          <a:prstGeom prst="roundRect">
            <a:avLst/>
          </a:prstGeom>
          <a:solidFill>
            <a:srgbClr val="F8FBFE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8" name="Rounded Rectangle 15387"/>
          <p:cNvSpPr/>
          <p:nvPr/>
        </p:nvSpPr>
        <p:spPr>
          <a:xfrm>
            <a:off x="3767327" y="5010912"/>
            <a:ext cx="420624" cy="356616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9" name="TextBox 15388"/>
          <p:cNvSpPr txBox="1"/>
          <p:nvPr/>
        </p:nvSpPr>
        <p:spPr>
          <a:xfrm>
            <a:off x="3767327" y="501091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CTX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279392" y="497433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CONTEXT-PRESERVING DATA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279392" y="515721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586068"/>
                </a:solidFill>
                <a:latin typeface="Arial"/>
              </a:rPr>
              <a:t>Route • timestamp • lead-time • fare context retained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6729984" y="4892040"/>
            <a:ext cx="2761488" cy="621792"/>
          </a:xfrm>
          <a:prstGeom prst="roundRect">
            <a:avLst/>
          </a:prstGeom>
          <a:solidFill>
            <a:srgbClr val="F8FBFE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3" name="Rounded Rectangle 15392"/>
          <p:cNvSpPr/>
          <p:nvPr/>
        </p:nvSpPr>
        <p:spPr>
          <a:xfrm>
            <a:off x="6821424" y="5010912"/>
            <a:ext cx="420624" cy="356616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4" name="TextBox 15393"/>
          <p:cNvSpPr txBox="1"/>
          <p:nvPr/>
        </p:nvSpPr>
        <p:spPr>
          <a:xfrm>
            <a:off x="6821424" y="501091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IQR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7333488" y="497433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DYNAMIC IQR PURIFIER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7333488" y="515721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586068"/>
                </a:solidFill>
                <a:latin typeface="Arial"/>
              </a:rPr>
              <a:t>Configurable k-factor; anomalies flagged + auditable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621792" y="5623560"/>
            <a:ext cx="2761488" cy="621792"/>
          </a:xfrm>
          <a:prstGeom prst="roundRect">
            <a:avLst/>
          </a:prstGeom>
          <a:solidFill>
            <a:srgbClr val="F8FBFE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Rounded Rectangle 15397"/>
          <p:cNvSpPr/>
          <p:nvPr/>
        </p:nvSpPr>
        <p:spPr>
          <a:xfrm>
            <a:off x="713232" y="5742432"/>
            <a:ext cx="420624" cy="356616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9" name="TextBox 15398"/>
          <p:cNvSpPr txBox="1"/>
          <p:nvPr/>
        </p:nvSpPr>
        <p:spPr>
          <a:xfrm>
            <a:off x="713232" y="574243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FEST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1225296" y="570585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FESTIVAL-AWARE SIGNAL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1225296" y="588873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586068"/>
                </a:solidFill>
                <a:latin typeface="Arial"/>
              </a:rPr>
              <a:t>Separates temporary demand spikes from structural movement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3675887" y="5623560"/>
            <a:ext cx="2761488" cy="621792"/>
          </a:xfrm>
          <a:prstGeom prst="roundRect">
            <a:avLst/>
          </a:prstGeom>
          <a:solidFill>
            <a:srgbClr val="EEF8F2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3" name="Rounded Rectangle 15402"/>
          <p:cNvSpPr/>
          <p:nvPr/>
        </p:nvSpPr>
        <p:spPr>
          <a:xfrm>
            <a:off x="3767327" y="5742432"/>
            <a:ext cx="420624" cy="356616"/>
          </a:xfrm>
          <a:prstGeom prst="roundRect">
            <a:avLst/>
          </a:prstGeom>
          <a:solidFill>
            <a:srgbClr val="238750"/>
          </a:solidFill>
          <a:ln w="50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4" name="TextBox 15403"/>
          <p:cNvSpPr txBox="1"/>
          <p:nvPr/>
        </p:nvSpPr>
        <p:spPr>
          <a:xfrm>
            <a:off x="3767327" y="574243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4279392" y="570585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WEIGHTED LASPEYRES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279392" y="588873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 dirty="0">
                <a:solidFill>
                  <a:srgbClr val="586068"/>
                </a:solidFill>
                <a:latin typeface="Arial"/>
              </a:rPr>
              <a:t>Base-period volume weights → representative national index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6729984" y="5623560"/>
            <a:ext cx="2761488" cy="621792"/>
          </a:xfrm>
          <a:prstGeom prst="roundRect">
            <a:avLst/>
          </a:prstGeom>
          <a:solidFill>
            <a:srgbClr val="F8FBFE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8" name="Rounded Rectangle 15407"/>
          <p:cNvSpPr/>
          <p:nvPr/>
        </p:nvSpPr>
        <p:spPr>
          <a:xfrm>
            <a:off x="6821424" y="5742432"/>
            <a:ext cx="420624" cy="356616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9" name="TextBox 15408"/>
          <p:cNvSpPr txBox="1"/>
          <p:nvPr/>
        </p:nvSpPr>
        <p:spPr>
          <a:xfrm>
            <a:off x="6821424" y="5742432"/>
            <a:ext cx="420624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7333488" y="5705856"/>
            <a:ext cx="2057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1F4B82"/>
                </a:solidFill>
                <a:latin typeface="Arial"/>
              </a:rPr>
              <a:t>RESILIENT DELIVERY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7333488" y="5888736"/>
            <a:ext cx="20574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586068"/>
                </a:solidFill>
                <a:latin typeface="Arial"/>
              </a:rPr>
              <a:t>PostgreSQL primary + SQLite WAL resilience + API/dashboard output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3D172B3-5B16-C6D1-7B28-0D2821C9D3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E7930-FB2A-9057-8244-870158C06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741" y="1285240"/>
            <a:ext cx="4909008" cy="3272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sz="2600" b="1" dirty="0">
                <a:solidFill>
                  <a:srgbClr val="1F4B82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21792" y="1554480"/>
            <a:ext cx="2194560" cy="283464"/>
          </a:xfrm>
          <a:prstGeom prst="roundRect">
            <a:avLst/>
          </a:prstGeom>
          <a:solidFill>
            <a:srgbClr val="0070B8"/>
          </a:solidFill>
          <a:ln w="381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554480"/>
            <a:ext cx="219455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SOURCE → QUALITY → INDEX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40080" y="2057400"/>
            <a:ext cx="1874519" cy="960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749808" y="2194560"/>
            <a:ext cx="329184" cy="329184"/>
          </a:xfrm>
          <a:prstGeom prst="roundRect">
            <a:avLst/>
          </a:prstGeom>
          <a:solidFill>
            <a:srgbClr val="0070B8"/>
          </a:solidFill>
          <a:ln w="508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749808" y="2194560"/>
            <a:ext cx="329184" cy="329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161287" y="2139696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1" i="0">
                <a:solidFill>
                  <a:srgbClr val="1F4B82"/>
                </a:solidFill>
                <a:latin typeface="Arial"/>
              </a:rPr>
              <a:t>SCRAPER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61287" y="240487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 dirty="0">
                <a:solidFill>
                  <a:srgbClr val="586068"/>
                </a:solidFill>
                <a:latin typeface="Arial"/>
              </a:rPr>
              <a:t>Live fares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542032" y="2350008"/>
            <a:ext cx="228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816352" y="2057400"/>
            <a:ext cx="1874519" cy="960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2926080" y="2194560"/>
            <a:ext cx="329184" cy="329184"/>
          </a:xfrm>
          <a:prstGeom prst="roundRect">
            <a:avLst/>
          </a:prstGeom>
          <a:solidFill>
            <a:srgbClr val="0070B8"/>
          </a:solidFill>
          <a:ln w="508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2926080" y="2194560"/>
            <a:ext cx="329184" cy="329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337559" y="2139696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1" i="0">
                <a:solidFill>
                  <a:srgbClr val="1F4B82"/>
                </a:solidFill>
                <a:latin typeface="Arial"/>
              </a:rPr>
              <a:t>NORMALIZE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337559" y="240487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586068"/>
                </a:solidFill>
                <a:latin typeface="Arial"/>
              </a:rPr>
              <a:t>Base + tax + total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718304" y="2350008"/>
            <a:ext cx="228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992624" y="2057400"/>
            <a:ext cx="1874519" cy="960120"/>
          </a:xfrm>
          <a:prstGeom prst="roundRect">
            <a:avLst/>
          </a:prstGeom>
          <a:solidFill>
            <a:srgbClr val="FDF5EB"/>
          </a:solidFill>
          <a:ln w="12700">
            <a:solidFill>
              <a:srgbClr val="DC7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5102352" y="2194560"/>
            <a:ext cx="329184" cy="329184"/>
          </a:xfrm>
          <a:prstGeom prst="roundRect">
            <a:avLst/>
          </a:prstGeom>
          <a:solidFill>
            <a:srgbClr val="DC771B"/>
          </a:solidFill>
          <a:ln w="5080">
            <a:solidFill>
              <a:srgbClr val="DC7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5102352" y="2194560"/>
            <a:ext cx="329184" cy="329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513831" y="2139696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1" i="0">
                <a:solidFill>
                  <a:srgbClr val="1F4B82"/>
                </a:solidFill>
                <a:latin typeface="Arial"/>
              </a:rPr>
              <a:t>QUALITY GATE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513831" y="240487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586068"/>
                </a:solidFill>
                <a:latin typeface="Arial"/>
              </a:rPr>
              <a:t>Validation + IQR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894576" y="2350008"/>
            <a:ext cx="228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168896" y="2057400"/>
            <a:ext cx="1874519" cy="96012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7278624" y="2194560"/>
            <a:ext cx="329184" cy="329184"/>
          </a:xfrm>
          <a:prstGeom prst="roundRect">
            <a:avLst/>
          </a:prstGeom>
          <a:solidFill>
            <a:srgbClr val="238750"/>
          </a:solidFill>
          <a:ln w="50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7278624" y="2194560"/>
            <a:ext cx="329184" cy="329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690103" y="2139696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1" i="0">
                <a:solidFill>
                  <a:srgbClr val="1F4B82"/>
                </a:solidFill>
                <a:latin typeface="Arial"/>
              </a:rPr>
              <a:t>WEIGHT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690103" y="240487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586068"/>
                </a:solidFill>
                <a:latin typeface="Arial"/>
              </a:rPr>
              <a:t>Q₀ corridor weights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070848" y="2350008"/>
            <a:ext cx="228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9345168" y="2057400"/>
            <a:ext cx="1874519" cy="96012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9454896" y="2194560"/>
            <a:ext cx="329184" cy="329184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9454896" y="2194560"/>
            <a:ext cx="329184" cy="329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9866375" y="2139696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1" i="0">
                <a:solidFill>
                  <a:srgbClr val="1F4B82"/>
                </a:solidFill>
                <a:latin typeface="Arial"/>
              </a:rPr>
              <a:t>INDEX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866375" y="240487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586068"/>
                </a:solidFill>
                <a:latin typeface="Arial"/>
              </a:rPr>
              <a:t>Base-100 output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40080" y="3273552"/>
            <a:ext cx="10561320" cy="749808"/>
          </a:xfrm>
          <a:prstGeom prst="roundRect">
            <a:avLst/>
          </a:prstGeom>
          <a:solidFill>
            <a:srgbClr val="F8FBFE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845819" y="3417354"/>
            <a:ext cx="1463040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070B8"/>
                </a:solidFill>
                <a:latin typeface="Arial"/>
              </a:rPr>
              <a:t>AUTOMATION DECISION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414015" y="3490771"/>
            <a:ext cx="8412480" cy="3231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930" b="1" i="0" dirty="0">
                <a:solidFill>
                  <a:srgbClr val="1F4B82"/>
                </a:solidFill>
                <a:latin typeface="Arial"/>
              </a:rPr>
              <a:t>Scraper reachable → ingest via Playwright / XHR interception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930" b="1" i="0" dirty="0">
                <a:solidFill>
                  <a:srgbClr val="1F4B82"/>
                </a:solidFill>
                <a:latin typeface="Arial"/>
              </a:rPr>
              <a:t>Source blocked → cached snapshot fallback  |  Layout change → vision-LLM self-healing extractor → revalidate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40080" y="4315968"/>
            <a:ext cx="32735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Rounded Rectangle 17446"/>
          <p:cNvSpPr/>
          <p:nvPr/>
        </p:nvSpPr>
        <p:spPr>
          <a:xfrm>
            <a:off x="640080" y="4315968"/>
            <a:ext cx="54864" cy="1298448"/>
          </a:xfrm>
          <a:prstGeom prst="roundRect">
            <a:avLst/>
          </a:prstGeom>
          <a:solidFill>
            <a:srgbClr val="0070B8"/>
          </a:solidFill>
          <a:ln w="254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786384" y="4416552"/>
            <a:ext cx="304495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4B82"/>
                </a:solidFill>
                <a:latin typeface="Arial"/>
              </a:rPr>
              <a:t>DATA SANITIZATION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86384" y="4700016"/>
            <a:ext cx="3044952" cy="4339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60" b="0" i="0" dirty="0">
                <a:solidFill>
                  <a:srgbClr val="586068"/>
                </a:solidFill>
                <a:latin typeface="Arial"/>
              </a:rPr>
              <a:t>Missing / duplicate / invalid quotes
Base fare, taxes &amp; total fare separated
Festival-season flag retained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087368" y="4315968"/>
            <a:ext cx="32735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Rounded Rectangle 17450"/>
          <p:cNvSpPr/>
          <p:nvPr/>
        </p:nvSpPr>
        <p:spPr>
          <a:xfrm>
            <a:off x="4087368" y="4315968"/>
            <a:ext cx="54864" cy="1298448"/>
          </a:xfrm>
          <a:prstGeom prst="roundRect">
            <a:avLst/>
          </a:prstGeom>
          <a:solidFill>
            <a:srgbClr val="238750"/>
          </a:solidFill>
          <a:ln w="254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4233672" y="4416552"/>
            <a:ext cx="304495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4B82"/>
                </a:solidFill>
                <a:latin typeface="Arial"/>
              </a:rPr>
              <a:t>INDEX ENGINE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53" name="TextBox 17452"/>
              <p:cNvSpPr txBox="1"/>
              <p:nvPr/>
            </p:nvSpPr>
            <p:spPr>
              <a:xfrm>
                <a:off x="4233672" y="4700016"/>
                <a:ext cx="3044952" cy="539187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860" b="0" i="0" dirty="0">
                    <a:solidFill>
                      <a:srgbClr val="586068"/>
                    </a:solidFill>
                    <a:latin typeface="Arial"/>
                  </a:rPr>
                  <a:t>Route aggregation in pandas
Fixed base-period Q₀ weights
Laspeyres:</a:t>
                </a:r>
                <a:r>
                  <a:rPr lang="en-US" sz="860" dirty="0">
                    <a:solidFill>
                      <a:srgbClr val="586068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ar-AE" sz="860" b="0" i="1" smtClean="0">
                            <a:solidFill>
                              <a:srgbClr val="58606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860" i="0" dirty="0">
                                <a:solidFill>
                                  <a:srgbClr val="586068"/>
                                </a:solidFill>
                                <a:latin typeface="Arial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860" i="0" dirty="0">
                                <a:solidFill>
                                  <a:srgbClr val="586068"/>
                                </a:solidFill>
                                <a:latin typeface="Arial"/>
                              </a:rPr>
                              <m:t>PₜQ₀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860" i="0" dirty="0">
                                <a:solidFill>
                                  <a:srgbClr val="586068"/>
                                </a:solidFill>
                                <a:latin typeface="Arial"/>
                              </a:rPr>
                              <m:t>P₀Q₀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860" dirty="0">
                    <a:solidFill>
                      <a:srgbClr val="586068"/>
                    </a:solidFill>
                    <a:latin typeface="Arial"/>
                  </a:rPr>
                  <a:t> × 100</a:t>
                </a:r>
                <a:endParaRPr sz="860" b="0" i="0" dirty="0">
                  <a:solidFill>
                    <a:srgbClr val="586068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453" name="TextBox 174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72" y="4700016"/>
                <a:ext cx="3044952" cy="539187"/>
              </a:xfrm>
              <a:prstGeom prst="rect">
                <a:avLst/>
              </a:prstGeom>
              <a:blipFill>
                <a:blip r:embed="rId4"/>
                <a:stretch>
                  <a:fillRect l="-1603" t="-4545" b="-5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54" name="Rounded Rectangle 17453"/>
          <p:cNvSpPr/>
          <p:nvPr/>
        </p:nvSpPr>
        <p:spPr>
          <a:xfrm>
            <a:off x="7534656" y="4315968"/>
            <a:ext cx="366674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Rounded Rectangle 17454"/>
          <p:cNvSpPr/>
          <p:nvPr/>
        </p:nvSpPr>
        <p:spPr>
          <a:xfrm>
            <a:off x="7534656" y="4315968"/>
            <a:ext cx="54864" cy="1298448"/>
          </a:xfrm>
          <a:prstGeom prst="roundRect">
            <a:avLst/>
          </a:prstGeom>
          <a:solidFill>
            <a:srgbClr val="1F4B82"/>
          </a:solidFill>
          <a:ln w="254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6" name="TextBox 17455"/>
          <p:cNvSpPr txBox="1"/>
          <p:nvPr/>
        </p:nvSpPr>
        <p:spPr>
          <a:xfrm>
            <a:off x="7680960" y="4416552"/>
            <a:ext cx="343814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4B82"/>
                </a:solidFill>
                <a:latin typeface="Arial"/>
              </a:rPr>
              <a:t>DELIVERY + RESILIENCE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680960" y="4700016"/>
            <a:ext cx="3438144" cy="4339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60" b="0" i="0" dirty="0">
                <a:solidFill>
                  <a:srgbClr val="586068"/>
                </a:solidFill>
                <a:latin typeface="Arial"/>
              </a:rPr>
              <a:t>PostgreSQL authoritative store
SQLite WAL resilience path
Dashboard + API-ready outputs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1234440" y="5833872"/>
            <a:ext cx="9418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1" i="0">
                <a:solidFill>
                  <a:srgbClr val="1F4B82"/>
                </a:solidFill>
                <a:latin typeface="Arial"/>
              </a:rPr>
              <a:t>SMART AUTOMATION PRINCIPLE  •  ROUTINE WORK IS AUTOMATED; EXCEPTIONS REMAIN TRACEABLE.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D388321-D86E-1A4D-4FEB-8021F18823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sz="2600" b="1" dirty="0">
                <a:solidFill>
                  <a:srgbClr val="1F4B82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21792" y="1554480"/>
            <a:ext cx="2057400" cy="283464"/>
          </a:xfrm>
          <a:prstGeom prst="roundRect">
            <a:avLst/>
          </a:prstGeom>
          <a:solidFill>
            <a:srgbClr val="238750"/>
          </a:solidFill>
          <a:ln w="381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554480"/>
            <a:ext cx="205739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PROOF OF FEASIBILITY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12064" y="1993392"/>
            <a:ext cx="6739128" cy="4114800"/>
          </a:xfrm>
          <a:prstGeom prst="roundRect">
            <a:avLst/>
          </a:prstGeom>
          <a:solidFill>
            <a:srgbClr val="F8FBFE"/>
          </a:solidFill>
          <a:ln w="1143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841248" y="2194560"/>
            <a:ext cx="6172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4B82"/>
                </a:solidFill>
                <a:latin typeface="Arial"/>
              </a:rPr>
              <a:t>Example: one anomalous fare enters the pipeline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41248" y="2633472"/>
            <a:ext cx="5989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91D22"/>
                </a:solidFill>
                <a:latin typeface="Arial"/>
              </a:rPr>
              <a:t>₹4,200   ₹4,300   ₹4,400   ₹4,500   ₹4,600   ₹4,700   ₹25,000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59536" y="3127248"/>
            <a:ext cx="292608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1024128" y="3310128"/>
            <a:ext cx="26060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b="1" i="0">
                <a:solidFill>
                  <a:srgbClr val="1F4B82"/>
                </a:solidFill>
                <a:latin typeface="Arial"/>
              </a:rPr>
              <a:t>Q1 = ₹4,350   |   Q3 = ₹4,650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24128" y="3602736"/>
            <a:ext cx="26060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20" b="1" i="0" dirty="0">
                <a:solidFill>
                  <a:srgbClr val="0070B8"/>
                </a:solidFill>
                <a:latin typeface="Arial"/>
              </a:rPr>
              <a:t>IQR = ₹300
Upper Fence = ₹5,100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005072" y="3127248"/>
            <a:ext cx="2944368" cy="1097280"/>
          </a:xfrm>
          <a:prstGeom prst="roundRect">
            <a:avLst/>
          </a:prstGeom>
          <a:solidFill>
            <a:srgbClr val="FDF0EF"/>
          </a:solidFill>
          <a:ln w="12700">
            <a:solidFill>
              <a:srgbClr val="C0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160520" y="3310128"/>
            <a:ext cx="263347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C02D28"/>
                </a:solidFill>
                <a:latin typeface="Arial"/>
              </a:rPr>
              <a:t>₹25,000  &gt;  ₹5,100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160520" y="3657600"/>
            <a:ext cx="263347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C02D28"/>
                </a:solidFill>
                <a:latin typeface="Arial"/>
              </a:rPr>
              <a:t>FLAG → LOG → REVIEW / EXCLUDE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9511E1-FF9B-9A9B-C0F1-9305F97E904E}"/>
              </a:ext>
            </a:extLst>
          </p:cNvPr>
          <p:cNvGrpSpPr/>
          <p:nvPr/>
        </p:nvGrpSpPr>
        <p:grpSpPr>
          <a:xfrm>
            <a:off x="612647" y="4882896"/>
            <a:ext cx="2075688" cy="603504"/>
            <a:chOff x="603504" y="4631436"/>
            <a:chExt cx="2075688" cy="603504"/>
          </a:xfrm>
        </p:grpSpPr>
        <p:sp>
          <p:nvSpPr>
            <p:cNvPr id="17423" name="Rounded Rectangle 17422"/>
            <p:cNvSpPr/>
            <p:nvPr/>
          </p:nvSpPr>
          <p:spPr>
            <a:xfrm>
              <a:off x="603504" y="4631436"/>
              <a:ext cx="2075688" cy="603504"/>
            </a:xfrm>
            <a:prstGeom prst="roundRect">
              <a:avLst/>
            </a:prstGeom>
            <a:solidFill>
              <a:srgbClr val="F8FBFE"/>
            </a:solidFill>
            <a:ln w="10160">
              <a:solidFill>
                <a:srgbClr val="0070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TextBox 17423"/>
            <p:cNvSpPr txBox="1"/>
            <p:nvPr/>
          </p:nvSpPr>
          <p:spPr>
            <a:xfrm>
              <a:off x="694944" y="4713732"/>
              <a:ext cx="1892807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40" b="1" i="0">
                  <a:solidFill>
                    <a:srgbClr val="0070B8"/>
                  </a:solidFill>
                  <a:latin typeface="Arial"/>
                </a:rPr>
                <a:t>TECHNICAL</a:t>
              </a:r>
            </a:p>
          </p:txBody>
        </p:sp>
        <p:sp>
          <p:nvSpPr>
            <p:cNvPr id="17425" name="TextBox 17424"/>
            <p:cNvSpPr txBox="1"/>
            <p:nvPr/>
          </p:nvSpPr>
          <p:spPr>
            <a:xfrm>
              <a:off x="694944" y="4887468"/>
              <a:ext cx="1892807" cy="2585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Python + pandas</a:t>
              </a:r>
            </a:p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Scraper ingestion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5649F45-6934-995A-D488-066ED2B636EC}"/>
              </a:ext>
            </a:extLst>
          </p:cNvPr>
          <p:cNvGrpSpPr/>
          <p:nvPr/>
        </p:nvGrpSpPr>
        <p:grpSpPr>
          <a:xfrm>
            <a:off x="2843784" y="4402962"/>
            <a:ext cx="2075688" cy="603504"/>
            <a:chOff x="2843784" y="4453128"/>
            <a:chExt cx="2075688" cy="603504"/>
          </a:xfrm>
        </p:grpSpPr>
        <p:sp>
          <p:nvSpPr>
            <p:cNvPr id="17426" name="Rounded Rectangle 17425"/>
            <p:cNvSpPr/>
            <p:nvPr/>
          </p:nvSpPr>
          <p:spPr>
            <a:xfrm>
              <a:off x="2843784" y="4453128"/>
              <a:ext cx="2075688" cy="603504"/>
            </a:xfrm>
            <a:prstGeom prst="roundRect">
              <a:avLst/>
            </a:prstGeom>
            <a:solidFill>
              <a:srgbClr val="EEF8F2"/>
            </a:solidFill>
            <a:ln w="10160">
              <a:solidFill>
                <a:srgbClr val="2387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7" name="TextBox 17426"/>
            <p:cNvSpPr txBox="1"/>
            <p:nvPr/>
          </p:nvSpPr>
          <p:spPr>
            <a:xfrm>
              <a:off x="2935224" y="4535424"/>
              <a:ext cx="1892807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40" b="1" i="0">
                  <a:solidFill>
                    <a:srgbClr val="238750"/>
                  </a:solidFill>
                  <a:latin typeface="Arial"/>
                </a:rPr>
                <a:t>STATISTICAL</a:t>
              </a:r>
            </a:p>
          </p:txBody>
        </p:sp>
        <p:sp>
          <p:nvSpPr>
            <p:cNvPr id="17428" name="TextBox 17427"/>
            <p:cNvSpPr txBox="1"/>
            <p:nvPr/>
          </p:nvSpPr>
          <p:spPr>
            <a:xfrm>
              <a:off x="2935224" y="4709160"/>
              <a:ext cx="1892807" cy="2585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Configurable IQR
Weighted Laspeyres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BDEAF6B-AF63-891B-D484-E8EEFD8A22A2}"/>
              </a:ext>
            </a:extLst>
          </p:cNvPr>
          <p:cNvGrpSpPr/>
          <p:nvPr/>
        </p:nvGrpSpPr>
        <p:grpSpPr>
          <a:xfrm>
            <a:off x="5084064" y="4878324"/>
            <a:ext cx="2075688" cy="603504"/>
            <a:chOff x="5084064" y="4631436"/>
            <a:chExt cx="2075688" cy="603504"/>
          </a:xfrm>
        </p:grpSpPr>
        <p:sp>
          <p:nvSpPr>
            <p:cNvPr id="17429" name="Rounded Rectangle 17428"/>
            <p:cNvSpPr/>
            <p:nvPr/>
          </p:nvSpPr>
          <p:spPr>
            <a:xfrm>
              <a:off x="5084064" y="4631436"/>
              <a:ext cx="2075688" cy="603504"/>
            </a:xfrm>
            <a:prstGeom prst="roundRect">
              <a:avLst/>
            </a:prstGeom>
            <a:solidFill>
              <a:srgbClr val="FDF5EB"/>
            </a:solidFill>
            <a:ln w="10160">
              <a:solidFill>
                <a:srgbClr val="DC77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0" name="TextBox 17429"/>
            <p:cNvSpPr txBox="1"/>
            <p:nvPr/>
          </p:nvSpPr>
          <p:spPr>
            <a:xfrm>
              <a:off x="5175504" y="4713732"/>
              <a:ext cx="1892807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40" b="1" i="0">
                  <a:solidFill>
                    <a:srgbClr val="DC771B"/>
                  </a:solidFill>
                  <a:latin typeface="Arial"/>
                </a:rPr>
                <a:t>OPERATIONAL</a:t>
              </a:r>
            </a:p>
          </p:txBody>
        </p:sp>
        <p:sp>
          <p:nvSpPr>
            <p:cNvPr id="17431" name="TextBox 17430"/>
            <p:cNvSpPr txBox="1"/>
            <p:nvPr/>
          </p:nvSpPr>
          <p:spPr>
            <a:xfrm>
              <a:off x="5175504" y="4887468"/>
              <a:ext cx="1892807" cy="2585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Provenance + fallback
Audit-ready exceptions</a:t>
              </a:r>
            </a:p>
          </p:txBody>
        </p:sp>
      </p:grpSp>
      <p:sp>
        <p:nvSpPr>
          <p:cNvPr id="17432" name="Rounded Rectangle 17431"/>
          <p:cNvSpPr/>
          <p:nvPr/>
        </p:nvSpPr>
        <p:spPr>
          <a:xfrm>
            <a:off x="7543800" y="1947672"/>
            <a:ext cx="3703320" cy="429768"/>
          </a:xfrm>
          <a:prstGeom prst="roundRect">
            <a:avLst/>
          </a:prstGeom>
          <a:solidFill>
            <a:srgbClr val="DC771B"/>
          </a:solidFill>
          <a:ln w="3810">
            <a:solidFill>
              <a:srgbClr val="DC7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452360" y="2067154"/>
            <a:ext cx="3657599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rial"/>
              </a:rPr>
              <a:t>CHALLENGE → CONTROL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543800" y="2468880"/>
            <a:ext cx="3703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7708392" y="2560320"/>
            <a:ext cx="157276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C02D28"/>
                </a:solidFill>
                <a:latin typeface="Arial"/>
              </a:rPr>
              <a:t>Dynamic / changing fares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281160" y="263347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573768" y="2633472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 dirty="0">
                <a:solidFill>
                  <a:srgbClr val="238750"/>
                </a:solidFill>
                <a:latin typeface="Arial"/>
              </a:rPr>
              <a:t>Timestamp + lead-time context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543800" y="3200400"/>
            <a:ext cx="3703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7708392" y="3291840"/>
            <a:ext cx="157276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C02D28"/>
                </a:solidFill>
                <a:latin typeface="Arial"/>
              </a:rPr>
              <a:t>Noisy / duplicate quotes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9281160" y="336499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9574276" y="3392424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238750"/>
                </a:solidFill>
                <a:latin typeface="Arial"/>
              </a:rPr>
              <a:t>Validation + IQR gate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543800" y="3931920"/>
            <a:ext cx="3703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7708392" y="4023360"/>
            <a:ext cx="157276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C02D28"/>
                </a:solidFill>
                <a:latin typeface="Arial"/>
              </a:rPr>
              <a:t>Festival spikes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281160" y="409651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9582912" y="4096512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 dirty="0">
                <a:solidFill>
                  <a:srgbClr val="238750"/>
                </a:solidFill>
                <a:latin typeface="Arial"/>
              </a:rPr>
              <a:t>Festival flag; compare with/without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7543800" y="4663440"/>
            <a:ext cx="3703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TextBox 17446"/>
          <p:cNvSpPr txBox="1"/>
          <p:nvPr/>
        </p:nvSpPr>
        <p:spPr>
          <a:xfrm>
            <a:off x="7708392" y="4754880"/>
            <a:ext cx="157276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C02D28"/>
                </a:solidFill>
                <a:latin typeface="Arial"/>
              </a:rPr>
              <a:t>Scrape source blocked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9281160" y="4828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86068"/>
                </a:solidFill>
                <a:latin typeface="Arial"/>
              </a:rPr>
              <a:t>→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573768" y="4864608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238750"/>
                </a:solidFill>
                <a:latin typeface="Arial"/>
              </a:rPr>
              <a:t>Cached snapshot fallback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589520" y="5650992"/>
            <a:ext cx="36118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40" b="1" i="0">
                <a:solidFill>
                  <a:srgbClr val="1F4B82"/>
                </a:solidFill>
                <a:latin typeface="Arial"/>
              </a:rPr>
              <a:t>KEY PRINCIPLE  •  FLAGGED ≠ SILENTLY DELETED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9CFB166-DD1F-A7C1-3872-8C7859CE2A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571109-98F1-FF2F-167E-A443A485B669}"/>
              </a:ext>
            </a:extLst>
          </p:cNvPr>
          <p:cNvGrpSpPr/>
          <p:nvPr/>
        </p:nvGrpSpPr>
        <p:grpSpPr>
          <a:xfrm>
            <a:off x="2843784" y="5314591"/>
            <a:ext cx="2075688" cy="603504"/>
            <a:chOff x="2843784" y="4453128"/>
            <a:chExt cx="2075688" cy="603504"/>
          </a:xfrm>
        </p:grpSpPr>
        <p:sp>
          <p:nvSpPr>
            <p:cNvPr id="15" name="Rounded Rectangle 17425">
              <a:extLst>
                <a:ext uri="{FF2B5EF4-FFF2-40B4-BE49-F238E27FC236}">
                  <a16:creationId xmlns:a16="http://schemas.microsoft.com/office/drawing/2014/main" id="{31C8C535-EE51-B6EC-1DCB-1468878C8006}"/>
                </a:ext>
              </a:extLst>
            </p:cNvPr>
            <p:cNvSpPr/>
            <p:nvPr/>
          </p:nvSpPr>
          <p:spPr>
            <a:xfrm>
              <a:off x="2843784" y="4453128"/>
              <a:ext cx="2075688" cy="603504"/>
            </a:xfrm>
            <a:prstGeom prst="roundRect">
              <a:avLst/>
            </a:prstGeom>
            <a:solidFill>
              <a:srgbClr val="EEF8F2"/>
            </a:solidFill>
            <a:ln w="10160">
              <a:solidFill>
                <a:srgbClr val="2387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95C035-D348-4C9F-FC6E-67B5EE0AEB00}"/>
                </a:ext>
              </a:extLst>
            </p:cNvPr>
            <p:cNvSpPr txBox="1"/>
            <p:nvPr/>
          </p:nvSpPr>
          <p:spPr>
            <a:xfrm>
              <a:off x="2935224" y="4535424"/>
              <a:ext cx="1892807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lang="en-US" sz="840" b="1" i="0" dirty="0">
                  <a:solidFill>
                    <a:srgbClr val="238750"/>
                  </a:solidFill>
                  <a:latin typeface="Arial"/>
                </a:rPr>
                <a:t>IQR FORMULA</a:t>
              </a:r>
              <a:endParaRPr sz="840" b="1" i="0" dirty="0">
                <a:solidFill>
                  <a:srgbClr val="238750"/>
                </a:solidFill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07FB10-760A-AF2B-8DD2-C961C7BCF5E5}"/>
                </a:ext>
              </a:extLst>
            </p:cNvPr>
            <p:cNvSpPr txBox="1"/>
            <p:nvPr/>
          </p:nvSpPr>
          <p:spPr>
            <a:xfrm>
              <a:off x="2935224" y="4709160"/>
              <a:ext cx="1892807" cy="2585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Lower Fence = Q1 – 1.5 × IQR</a:t>
              </a:r>
            </a:p>
            <a:p>
              <a:pPr algn="ctr"/>
              <a:r>
                <a:rPr sz="720" b="1" i="0" dirty="0">
                  <a:solidFill>
                    <a:srgbClr val="1F4B82"/>
                  </a:solidFill>
                  <a:latin typeface="Arial"/>
                </a:rPr>
                <a:t>Upper Fence = Q3 + 1.5 × IQR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sz="2600" b="1" dirty="0">
                <a:solidFill>
                  <a:srgbClr val="1F4B82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66928" y="1627632"/>
            <a:ext cx="7360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8183879" y="1627632"/>
            <a:ext cx="2331720" cy="283464"/>
          </a:xfrm>
          <a:prstGeom prst="roundRect">
            <a:avLst/>
          </a:prstGeom>
          <a:solidFill>
            <a:srgbClr val="1F4B82"/>
          </a:solidFill>
          <a:ln w="381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8183879" y="1627632"/>
            <a:ext cx="233171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WHY THIS CHANGES THE INDEX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83879" y="2084831"/>
            <a:ext cx="2999232" cy="676656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8321040" y="2185415"/>
            <a:ext cx="713232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0070B8"/>
                </a:solidFill>
                <a:latin typeface="Arial"/>
              </a:rPr>
              <a:t>ECONOMIC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070848" y="2157983"/>
            <a:ext cx="19202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0" b="1" i="0">
                <a:solidFill>
                  <a:srgbClr val="1F4B82"/>
                </a:solidFill>
                <a:latin typeface="Arial"/>
              </a:rPr>
              <a:t>High-volume corridors get appropriate influence.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183879" y="2889503"/>
            <a:ext cx="2999232" cy="676656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321040" y="2990087"/>
            <a:ext cx="749808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 dirty="0">
                <a:solidFill>
                  <a:srgbClr val="238750"/>
                </a:solidFill>
                <a:latin typeface="Arial"/>
              </a:rPr>
              <a:t>STATISTICAL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070848" y="2962655"/>
            <a:ext cx="19202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0" b="1" i="0" dirty="0">
                <a:solidFill>
                  <a:srgbClr val="1F4B82"/>
                </a:solidFill>
                <a:latin typeface="Arial"/>
              </a:rPr>
              <a:t>Less distortion than treating every route equally.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183879" y="3694175"/>
            <a:ext cx="2999232" cy="676656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C7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321040" y="3794759"/>
            <a:ext cx="713232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DC771B"/>
                </a:solidFill>
                <a:latin typeface="Arial"/>
              </a:rPr>
              <a:t>POLICY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070848" y="3767327"/>
            <a:ext cx="19202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0" b="1" i="0">
                <a:solidFill>
                  <a:srgbClr val="1F4B82"/>
                </a:solidFill>
                <a:latin typeface="Arial"/>
              </a:rPr>
              <a:t>Better signal for airfare-driven price movement.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83879" y="4498847"/>
            <a:ext cx="2999232" cy="676656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8321040" y="4599431"/>
            <a:ext cx="713232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1F4B82"/>
                </a:solidFill>
                <a:latin typeface="Arial"/>
              </a:rPr>
              <a:t>AUDIT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070848" y="4571999"/>
            <a:ext cx="19202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0" b="1" i="0">
                <a:solidFill>
                  <a:srgbClr val="1F4B82"/>
                </a:solidFill>
                <a:latin typeface="Arial"/>
              </a:rPr>
              <a:t>Weights and exclusions remain explainable.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183879" y="5413248"/>
            <a:ext cx="2999232" cy="475488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247888" y="5541264"/>
            <a:ext cx="2871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90" b="1" i="0">
                <a:solidFill>
                  <a:srgbClr val="FFFFFF"/>
                </a:solidFill>
                <a:latin typeface="Arial"/>
              </a:rPr>
              <a:t>REPRESENTATIVE  •  REPRODUCIBLE  •  DEFENSIBLE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D7C1A06-7D0F-DA69-A121-EAF6E89DAB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ED587D-2513-8A39-D24F-627C38EB1E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4" t="1889" r="1964" b="1889"/>
          <a:stretch>
            <a:fillRect/>
          </a:stretch>
        </p:blipFill>
        <p:spPr>
          <a:xfrm>
            <a:off x="1200912" y="1712965"/>
            <a:ext cx="6061588" cy="40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sz="2600" b="1" dirty="0">
                <a:solidFill>
                  <a:srgbClr val="1F4B82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21792" y="1554480"/>
            <a:ext cx="2331720" cy="283464"/>
          </a:xfrm>
          <a:prstGeom prst="roundRect">
            <a:avLst/>
          </a:prstGeom>
          <a:solidFill>
            <a:srgbClr val="0070B8"/>
          </a:solidFill>
          <a:ln w="381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554480"/>
            <a:ext cx="233171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RESEARCH → DESIGN DECISION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40080" y="2011680"/>
            <a:ext cx="65836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786384" y="2157984"/>
            <a:ext cx="1536192" cy="338328"/>
          </a:xfrm>
          <a:prstGeom prst="roundRect">
            <a:avLst/>
          </a:prstGeom>
          <a:solidFill>
            <a:srgbClr val="0070B8"/>
          </a:solidFill>
          <a:ln w="508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786384" y="2157984"/>
            <a:ext cx="1536192" cy="3383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SIH26056 / MOSPI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468880" y="2103120"/>
            <a:ext cx="4498848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1" i="0">
                <a:solidFill>
                  <a:srgbClr val="1F4B82"/>
                </a:solidFill>
                <a:latin typeface="Arial"/>
              </a:rPr>
              <a:t>Problem asks for automated, scalable airfare collection, cleaning, normalization and real-time index construction.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2834640"/>
            <a:ext cx="65836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786384" y="2980944"/>
            <a:ext cx="1536192" cy="338328"/>
          </a:xfrm>
          <a:prstGeom prst="roundRect">
            <a:avLst/>
          </a:prstGeom>
          <a:solidFill>
            <a:srgbClr val="C02D28"/>
          </a:solidFill>
          <a:ln w="5080">
            <a:solidFill>
              <a:srgbClr val="C0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86384" y="2980944"/>
            <a:ext cx="1536192" cy="3383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DYNAMIC FARE RESEARCH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468880" y="2926080"/>
            <a:ext cx="4498848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1" i="0">
                <a:solidFill>
                  <a:srgbClr val="1F4B82"/>
                </a:solidFill>
                <a:latin typeface="Arial"/>
              </a:rPr>
              <a:t>Minute-to-minute dispersion, search loops and session context make naive collection unreliable.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3657600"/>
            <a:ext cx="65836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786384" y="3803904"/>
            <a:ext cx="1536192" cy="338328"/>
          </a:xfrm>
          <a:prstGeom prst="roundRect">
            <a:avLst/>
          </a:prstGeom>
          <a:solidFill>
            <a:srgbClr val="238750"/>
          </a:solidFill>
          <a:ln w="50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786384" y="3803904"/>
            <a:ext cx="1536192" cy="3383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ECONOMETRIC RESEARCH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468880" y="3749040"/>
            <a:ext cx="4498848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1" i="0">
                <a:solidFill>
                  <a:srgbClr val="1F4B82"/>
                </a:solidFill>
                <a:latin typeface="Arial"/>
              </a:rPr>
              <a:t>Fixed base-period volume weights make the index economically representative.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40080" y="4480560"/>
            <a:ext cx="65836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786384" y="4626864"/>
            <a:ext cx="1536192" cy="338328"/>
          </a:xfrm>
          <a:prstGeom prst="roundRect">
            <a:avLst/>
          </a:prstGeom>
          <a:solidFill>
            <a:srgbClr val="DC771B"/>
          </a:solidFill>
          <a:ln w="5080">
            <a:solidFill>
              <a:srgbClr val="DC7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786384" y="4626864"/>
            <a:ext cx="1536192" cy="3383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VAYU-SUCHAK BLUEPRINT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468880" y="4572000"/>
            <a:ext cx="4498848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1" i="0">
                <a:solidFill>
                  <a:srgbClr val="1F4B82"/>
                </a:solidFill>
                <a:latin typeface="Arial"/>
              </a:rPr>
              <a:t>Scraper-first acquisition, quality gates, festival flagging, IQR purifier and resilient persistence.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516368" y="1993392"/>
            <a:ext cx="3703320" cy="342900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7726679" y="2194560"/>
            <a:ext cx="1325880" cy="283464"/>
          </a:xfrm>
          <a:prstGeom prst="roundRect">
            <a:avLst/>
          </a:prstGeom>
          <a:solidFill>
            <a:srgbClr val="1F4B82"/>
          </a:solidFill>
          <a:ln w="381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7726679" y="2194560"/>
            <a:ext cx="1325879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KEY SOURCES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744968" y="2670048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4B82"/>
                </a:solidFill>
                <a:latin typeface="Arial"/>
                <a:hlinkClick r:id="rId4"/>
              </a:rPr>
              <a:t>01  SIH 2026 — SIH26056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744968" y="3163824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4B82"/>
                </a:solidFill>
                <a:latin typeface="Arial"/>
              </a:rPr>
              <a:t>02  MoSPI — CPI methodology / revised series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744968" y="3657600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4B82"/>
                </a:solidFill>
                <a:latin typeface="Arial"/>
              </a:rPr>
              <a:t>03  Team research — fare dispersion &amp; integrity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744968" y="4151376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4B82"/>
                </a:solidFill>
                <a:latin typeface="Arial"/>
              </a:rPr>
              <a:t>04  Team research — weighted Laspeyres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744968" y="4645152"/>
            <a:ext cx="31546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 dirty="0">
                <a:solidFill>
                  <a:srgbClr val="1F4B82"/>
                </a:solidFill>
                <a:latin typeface="Arial"/>
              </a:rPr>
              <a:t>05  CHAKRAVYUH — VAYU-SUCHAK blueprint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40080" y="5504688"/>
            <a:ext cx="10579608" cy="457200"/>
          </a:xfrm>
          <a:prstGeom prst="roundRect">
            <a:avLst/>
          </a:prstGeom>
          <a:solidFill>
            <a:srgbClr val="1F4B82"/>
          </a:solidFill>
          <a:ln w="5080">
            <a:solidFill>
              <a:srgbClr val="1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822960" y="5605272"/>
            <a:ext cx="10213848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COLLECT → VALIDATE → SANITIZE → WEIGHT → INDEX → AUDIT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8FF0CBB-E2FE-4E01-3509-470B9C684A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27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F4B82"/>
                </a:solidFill>
                <a:latin typeface="Arial"/>
              </a:rPr>
              <a:t>CHAKRA</a:t>
            </a:r>
            <a:br>
              <a:rPr lang="en-US" sz="1100" b="1" dirty="0">
                <a:solidFill>
                  <a:srgbClr val="1F4B82"/>
                </a:solidFill>
                <a:latin typeface="Arial"/>
              </a:rPr>
            </a:br>
            <a:r>
              <a:rPr sz="1100" b="1" dirty="0">
                <a:solidFill>
                  <a:srgbClr val="1F4B82"/>
                </a:solidFill>
                <a:latin typeface="Arial"/>
              </a:rPr>
              <a:t>VYUH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9240</TotalTime>
  <Words>691</Words>
  <Application>Microsoft Office PowerPoint</Application>
  <PresentationFormat>Widescreen</PresentationFormat>
  <Paragraphs>150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Cambria Math</vt:lpstr>
      <vt:lpstr>Garamond</vt:lpstr>
      <vt:lpstr>Times New Roman</vt:lpstr>
      <vt:lpstr>TradeGothic</vt:lpstr>
      <vt:lpstr>Wingdings</vt:lpstr>
      <vt:lpstr>Office Theme</vt:lpstr>
      <vt:lpstr>SMART INDIA HACKATHON 2026</vt:lpstr>
      <vt:lpstr>VAYU-SUCHAK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samarthgupta764@gmail.com</cp:lastModifiedBy>
  <cp:revision>152</cp:revision>
  <dcterms:created xsi:type="dcterms:W3CDTF">2013-12-12T18:46:50Z</dcterms:created>
  <dcterms:modified xsi:type="dcterms:W3CDTF">2026-09-07T17:50:32Z</dcterms:modified>
  <cp:category/>
</cp:coreProperties>
</file>